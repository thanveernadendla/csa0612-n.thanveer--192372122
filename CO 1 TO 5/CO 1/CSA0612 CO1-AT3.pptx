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arlow" panose="00000500000000000000" pitchFamily="2" charset="0"/>
      <p:regular r:id="rId12"/>
    </p:embeddedFont>
    <p:embeddedFont>
      <p:font typeface="Barlow Bold" panose="020B0604020202020204" charset="0"/>
      <p:regular r:id="rId13"/>
    </p:embeddedFont>
    <p:embeddedFont>
      <p:font typeface="Spline Sans Bold" panose="020B0604020202020204" charset="0"/>
      <p:regular r:id="rId14"/>
    </p:embeddedFont>
    <p:embeddedFont>
      <p:font typeface="Spline Sans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20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2" y="520799"/>
            <a:ext cx="4362043" cy="5816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6086" y="1209774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Recursion Tree Method: Solving T(n) = 3T(n/2) + n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306086" y="2689820"/>
            <a:ext cx="6151409" cy="29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visual approach to analyzing divide-and-conquer recurrences in Computer Science.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NAME:- N.Thanveer basha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REG.NO:-192372122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 CODE :- CSA0612</a:t>
            </a:r>
            <a:endParaRPr lang="en-US" sz="1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 NAME:- DESIGN AND ANLYSIS OF ALGORITHM 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762" y="490240"/>
            <a:ext cx="4407881" cy="5877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755055"/>
            <a:ext cx="6151409" cy="455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the Recursion Tree Method?</a:t>
            </a:r>
            <a:endParaRPr lang="en-US" sz="2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1402259"/>
            <a:ext cx="6151409" cy="11375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3353" y="1585218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93353" y="1889720"/>
            <a:ext cx="5709301" cy="46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visual technique to solve recurrences by expanding recursive calls into a tree structure, making cost accumulation explicit at every level.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2667794"/>
            <a:ext cx="6151409" cy="11375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3353" y="2850753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Goal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993353" y="3155255"/>
            <a:ext cx="5709301" cy="46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 the cost at every level of the tree to derive the total running time of the recurrence.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933329"/>
            <a:ext cx="6151409" cy="11375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353" y="4116288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Best Used For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993353" y="4420791"/>
            <a:ext cx="5709301" cy="46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Recurrences of the form </a:t>
            </a: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aT(n/b) + f(n)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where a ≥ 1, b &gt; 1 — the classic divide-and-conquer shape.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5198864"/>
            <a:ext cx="6151409" cy="9039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3353" y="5381823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Recurrence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993353" y="5686326"/>
            <a:ext cx="5709301" cy="23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3T(n/2) + n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branching factor 3, subproblem size halved at each level.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18641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Structure of the Recursion Tree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5" y="1332111"/>
            <a:ext cx="7506306" cy="3435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1114" y="1874533"/>
            <a:ext cx="1475992" cy="18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Leaves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841114" y="2118078"/>
            <a:ext cx="1830230" cy="14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Level log₂n: T(1) leaves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26802" y="3003695"/>
            <a:ext cx="1475992" cy="184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Level 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20164" y="3247240"/>
            <a:ext cx="1682631" cy="14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nodes n/2 each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41114" y="3586726"/>
            <a:ext cx="1475992" cy="18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Level 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41114" y="3830271"/>
            <a:ext cx="1830230" cy="14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Root n (cost 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4200" y="4998641"/>
            <a:ext cx="2539837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3740" y="5158184"/>
            <a:ext cx="2220758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Root (Level 0)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3740" y="5464969"/>
            <a:ext cx="2220758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 of size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cost =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76826" y="4998641"/>
            <a:ext cx="2539936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536365" y="5158184"/>
            <a:ext cx="222085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Branching Factor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36365" y="5464969"/>
            <a:ext cx="222085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node spawns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children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; subproblem size at level i is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n/2ⁱ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1283" y="4998641"/>
            <a:ext cx="2539837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40822" y="5158184"/>
            <a:ext cx="2220758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Tree Height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40822" y="5464969"/>
            <a:ext cx="222075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Recursion stops when n/2ⁱ = 1 → height =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log₂n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levels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923908" y="4998641"/>
            <a:ext cx="2539936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083448" y="5158184"/>
            <a:ext cx="222085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Leaf Count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83448" y="5464969"/>
            <a:ext cx="222085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depth log₂n: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3^(log₂n) = n^(log₂3)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leaves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66986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Cost at Each Level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34200" y="2017514"/>
            <a:ext cx="5679040" cy="3660577"/>
          </a:xfrm>
          <a:prstGeom prst="roundRect">
            <a:avLst>
              <a:gd name="adj" fmla="val 816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4200" y="2888853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4200" y="3446066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4200" y="4003278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4200" y="4560491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4200" y="5117703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848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0074" y="2143820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Level (i)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157359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56585" y="2143820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573869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73095" y="2143820"/>
            <a:ext cx="101805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 per Node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990380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89606" y="2143820"/>
            <a:ext cx="101805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Cost at Level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40074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356585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773095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189606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40074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356585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773095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n/2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89606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(3/2)n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0074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356585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773095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n/4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189606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(3/2)²n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40074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356585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3ⁱ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773095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n/2ⁱ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189606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(3/2)ⁱ · 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40074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log₂n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2356585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n^log₂3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3773095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Θ(1)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189606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Θ(n^log₂3)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905750" y="1993900"/>
            <a:ext cx="455809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905750" y="2460030"/>
            <a:ext cx="4558095" cy="172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level's cost grows by a factor of </a:t>
            </a:r>
            <a:r>
              <a:rPr lang="en-US" sz="155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3/2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compared to the level above.</a:t>
            </a:r>
            <a:endParaRPr lang="en-US" sz="1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makes the tree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cost-increasing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top to bottom — the deeper you go, the more total work is done at that level.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6905750" y="4398070"/>
            <a:ext cx="4558095" cy="1062236"/>
          </a:xfrm>
          <a:prstGeom prst="roundRect">
            <a:avLst>
              <a:gd name="adj" fmla="val 28145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976" y="4701381"/>
            <a:ext cx="249132" cy="199231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553334" y="4618236"/>
            <a:ext cx="3711284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ratio 3/2 &gt; 1 tells us immediately that leaf cost will dominate the total.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4128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Cost Derivation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1943596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200" y="2274689"/>
            <a:ext cx="5256776" cy="25400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4200" y="2430363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Sum Over All Levels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4200" y="2847578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T(n) = Σᵢ₌₀^(log₂n − 1) (3/2)ⁱ · n + Θ(n^log₂3)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00719" y="1943596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00719" y="2274689"/>
            <a:ext cx="5256776" cy="25400"/>
          </a:xfrm>
          <a:prstGeom prst="rect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00719" y="2430363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Apply Geometric Series Formula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00719" y="2847578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Σ (3/2)ⁱ = [(3/2)^(log₂n) − 1] / (3/2 − 1) = </a:t>
            </a: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2[(3/2)^(log₂n) − 1]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4200" y="3550345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4200" y="3881438"/>
            <a:ext cx="5256776" cy="25400"/>
          </a:xfrm>
          <a:prstGeom prst="rect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4200" y="4037112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Simplify the Exponent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4200" y="4454327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(3/2)^(log₂n) = n^(log₂(3/2)) = </a:t>
            </a: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n^(log₂3 − 1)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00719" y="3550345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200719" y="3881438"/>
            <a:ext cx="5256776" cy="25400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0719" y="4037112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Combine and Conclude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0719" y="4454327"/>
            <a:ext cx="525677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Internal node cost = O(n · n^(log₂3 − 1)) = O(n^log₂3), which is </a:t>
            </a: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dominated by leaf cost Θ(n^log₂3)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4200" y="5548610"/>
            <a:ext cx="11332879" cy="36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8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5548610"/>
            <a:ext cx="10723294" cy="368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99505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Final Result: T(n) = Θ(n^log₂3)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1932781"/>
            <a:ext cx="5667432" cy="3889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9739" y="1906588"/>
            <a:ext cx="454400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Interpreting the Result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19739" y="2407741"/>
            <a:ext cx="515359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log₂3 ≈ 1.585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so T(n) = Θ(n^1.585).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919739" y="2932311"/>
            <a:ext cx="4544006" cy="283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Leaf cost dominates: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cost grows geometrically — most work is done at the deepest levels of the tree.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Super-linear but sub-quadratic: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algorithm is strictly better than O(n²) and strictly worse than O(n log n).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Geometric ratio 3/2 &gt; 1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the decisive factor — it drives all work toward the leaves.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6" y="499765"/>
            <a:ext cx="4393594" cy="58583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622102"/>
            <a:ext cx="615140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Verification via Master Theorem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1344712"/>
            <a:ext cx="891557" cy="12227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77261" y="1523008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Identify Parameters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777261" y="1861542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T(n) = 3T(n/2) + n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= 3, b = 2, f(n) = n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2567484"/>
            <a:ext cx="891557" cy="12227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77261" y="2745780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Compute Critical Exponent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777261" y="3084314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log_b(a) = log₂3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≈ 1.585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" y="3790255"/>
            <a:ext cx="891557" cy="12227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77261" y="3968552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Compare f(n) vs n^log₂3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777261" y="4307086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f(n) = n = O(n¹)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Since 1 &lt; 1.585, f(n) = O(n^(log₂3 − ε)) for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ε ≈ 0.585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00" y="5013027"/>
            <a:ext cx="891557" cy="12227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77261" y="5191323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Case 1 Applies ✓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1777261" y="5529858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Θ(n^log₂3)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Confirms the recursion tree result exactly.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796" y="467618"/>
            <a:ext cx="4441813" cy="59226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593229"/>
            <a:ext cx="6151409" cy="360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734200" y="1074936"/>
            <a:ext cx="6151409" cy="1321296"/>
          </a:xfrm>
          <a:prstGeom prst="roundRect">
            <a:avLst>
              <a:gd name="adj" fmla="val 14756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76873" y="1217613"/>
            <a:ext cx="389920" cy="389930"/>
          </a:xfrm>
          <a:prstGeom prst="ellipse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126" y="1324868"/>
            <a:ext cx="175414" cy="175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6873" y="1688009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Recursion Tree Method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76873" y="1916807"/>
            <a:ext cx="5866063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Provides intuitive, visual insight into how costs accumulate across levels of a divide-and-conquer algorithm.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34200" y="2476698"/>
            <a:ext cx="6151409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876873" y="2619375"/>
            <a:ext cx="389920" cy="389930"/>
          </a:xfrm>
          <a:prstGeom prst="ellipse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126" y="2726630"/>
            <a:ext cx="175414" cy="1754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6873" y="3089771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Geometric Growth (ratio &gt; 1)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76873" y="3318570"/>
            <a:ext cx="586606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the per-level cost ratio exceeds 1, leaf cost dominates and T(n) = Θ(n^log_b(a)).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34200" y="3710087"/>
            <a:ext cx="6151409" cy="1321296"/>
          </a:xfrm>
          <a:prstGeom prst="roundRect">
            <a:avLst>
              <a:gd name="adj" fmla="val 14756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76873" y="3852763"/>
            <a:ext cx="389920" cy="389930"/>
          </a:xfrm>
          <a:prstGeom prst="ellipse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126" y="3960019"/>
            <a:ext cx="175414" cy="1754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6873" y="4323159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Master Theorem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76873" y="4551958"/>
            <a:ext cx="5866063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fast algebraic shortcut — the recursion tree is the rigorous proof behind it, revealing </a:t>
            </a:r>
            <a:r>
              <a:rPr lang="en-US" sz="10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each case holds.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4200" y="5111849"/>
            <a:ext cx="6151409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876873" y="5254526"/>
            <a:ext cx="389920" cy="389930"/>
          </a:xfrm>
          <a:prstGeom prst="ellipse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126" y="5361781"/>
            <a:ext cx="175414" cy="1754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6873" y="5724922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Confirmed Result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76873" y="5953720"/>
            <a:ext cx="586606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T(n) = 3T(n/2) + n, both methods confirm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Θ(n^log₂3) ≈ Θ(n^1.585)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FCAFE-CC45-8685-205D-AE9A3A002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67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884</Words>
  <Application>Microsoft Office PowerPoint</Application>
  <PresentationFormat>Widescreen</PresentationFormat>
  <Paragraphs>108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Spline Sans Light</vt:lpstr>
      <vt:lpstr>Arial</vt:lpstr>
      <vt:lpstr>Spline Sans Bold</vt:lpstr>
      <vt:lpstr>Barlow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Malti Dhawan</cp:lastModifiedBy>
  <cp:revision>2</cp:revision>
  <dcterms:created xsi:type="dcterms:W3CDTF">2026-07-25T04:49:40Z</dcterms:created>
  <dcterms:modified xsi:type="dcterms:W3CDTF">2026-07-25T04:52:22Z</dcterms:modified>
</cp:coreProperties>
</file>